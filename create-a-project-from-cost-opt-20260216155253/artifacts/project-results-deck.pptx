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0000A00000000000000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commentAuthors" Target="commentAuthor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acod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{{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CustomerName</a:t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}}</a:t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$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354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ROI = 0.5 months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$164,794.97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January 2026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$71,772.86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February 2026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$2,563.32</a:t>
              </a:r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/day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-$93,022.11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↓</a:t>
              </a:r>
              <a:r>
                <a:rPr lang="en-US" sz="1200" dirty="0">
                  <a:solidFill>
                    <a:srgbClr val="60CD39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56.4%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273736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</a:t>
                      </a:r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Rigthsize Azure AI Search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2761572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Purchase reservations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24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App Service Plans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8732653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or shutdown Virtual Machines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Migrate SQL Databases to Azure SQL Databases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Switch to a cost-effective tier for Storage Accounts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15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unused Public IP addresses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344830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Move resources to cheaper region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3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771367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9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81464444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Optimize storage redundancy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7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69429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Configure pipeline for redeployment of deallocated disks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606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E3B37-7E99-E235-4EDA-526F41DAB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80" y="1891973"/>
            <a:ext cx="11370025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</a:t>
              </a:r>
              <a:r>
                <a:rPr lang="ru-RU" sz="2800" b="1" dirty="0">
                  <a:cs typeface="Poppins SemiBold" panose="00000700000000000000" pitchFamily="2" charset="0"/>
                </a:rPr>
                <a:t>270</a:t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,</a:t>
              </a:r>
              <a:r>
                <a:rPr lang="ru-RU" sz="2800" b="1" dirty="0">
                  <a:cs typeface="Poppins SemiBold" panose="00000700000000000000" pitchFamily="2" charset="0"/>
                </a:rPr>
                <a:t>818</a:t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14.5</a:t>
              </a:r>
              <a:r>
                <a:rPr lang="en-US" sz="1400" b="1" dirty="0">
                  <a:solidFill>
                    <a:schemeClr val="bg1"/>
                  </a:solidFill>
                </a:rPr>
                <a:t>%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$1,868,452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$1,597,633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F13793B-6752-D0AA-5B53-5A728738A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24" y="3429000"/>
            <a:ext cx="2495550" cy="237172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1503977-1745-2AC7-0D90-DAB77B56E3D2}"/>
              </a:ext>
            </a:extLst>
          </p:cNvPr>
          <p:cNvSpPr txBox="1"/>
          <p:nvPr/>
        </p:nvSpPr>
        <p:spPr>
          <a:xfrm>
            <a:off x="904455" y="354763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AC93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10.95%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7F14E-C625-C99A-5C9F-962DE0621950}"/>
              </a:ext>
            </a:extLst>
          </p:cNvPr>
          <p:cNvSpPr txBox="1"/>
          <p:nvPr/>
        </p:nvSpPr>
        <p:spPr>
          <a:xfrm>
            <a:off x="2629639" y="504306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5E8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90.05%</a:t>
            </a:r>
          </a:p>
        </p:txBody>
      </p:sp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10.95%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72.3%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57.99%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47%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81.4%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59.8%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64.1%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82.1%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62.7%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36836</TotalTime>
  <Words>401</Words>
  <Application>Microsoft Office PowerPoint</Application>
  <PresentationFormat>Widescreen</PresentationFormat>
  <Paragraphs>168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Roboto</vt:lpstr>
      <vt:lpstr>Aptos Narrow</vt:lpstr>
      <vt:lpstr>Poppins Black</vt:lpstr>
      <vt:lpstr>Roboto Medium</vt:lpstr>
      <vt:lpstr>Roboto Bold</vt:lpstr>
      <vt:lpstr>Roboto Condensed</vt:lpstr>
      <vt:lpstr>Arial</vt:lpstr>
      <vt:lpstr>Poppins SemiBold</vt:lpstr>
      <vt:lpstr>Aptos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518</cp:revision>
  <dcterms:created xsi:type="dcterms:W3CDTF">2017-02-07T16:52:31Z</dcterms:created>
  <dcterms:modified xsi:type="dcterms:W3CDTF">2026-02-13T13:47:41Z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